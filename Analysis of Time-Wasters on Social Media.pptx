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5E45910D-B335-4125-88BC-35936641BED2}" type="datetimeFigureOut">
              <a:rPr lang="en-US" smtClean="0"/>
              <a:t>9/26/2025</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B9B8CFC8-3EFB-47C1-AD59-4B823EAD42C8}" type="slidenum">
              <a:rPr lang="en-US" smtClean="0"/>
              <a:t>‹#›</a:t>
            </a:fld>
            <a:endParaRPr lang="en-US"/>
          </a:p>
        </p:txBody>
      </p:sp>
    </p:spTree>
    <p:extLst>
      <p:ext uri="{BB962C8B-B14F-4D97-AF65-F5344CB8AC3E}">
        <p14:creationId xmlns:p14="http://schemas.microsoft.com/office/powerpoint/2010/main" val="86907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45910D-B335-4125-88BC-35936641BED2}"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B8CFC8-3EFB-47C1-AD59-4B823EAD42C8}" type="slidenum">
              <a:rPr lang="en-US" smtClean="0"/>
              <a:t>‹#›</a:t>
            </a:fld>
            <a:endParaRPr lang="en-US"/>
          </a:p>
        </p:txBody>
      </p:sp>
    </p:spTree>
    <p:extLst>
      <p:ext uri="{BB962C8B-B14F-4D97-AF65-F5344CB8AC3E}">
        <p14:creationId xmlns:p14="http://schemas.microsoft.com/office/powerpoint/2010/main" val="3678059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5E45910D-B335-4125-88BC-35936641BED2}" type="datetimeFigureOut">
              <a:rPr lang="en-US" smtClean="0"/>
              <a:t>9/26/2025</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B9B8CFC8-3EFB-47C1-AD59-4B823EAD42C8}" type="slidenum">
              <a:rPr lang="en-US" smtClean="0"/>
              <a:t>‹#›</a:t>
            </a:fld>
            <a:endParaRPr lang="en-US"/>
          </a:p>
        </p:txBody>
      </p:sp>
    </p:spTree>
    <p:extLst>
      <p:ext uri="{BB962C8B-B14F-4D97-AF65-F5344CB8AC3E}">
        <p14:creationId xmlns:p14="http://schemas.microsoft.com/office/powerpoint/2010/main" val="2103332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45910D-B335-4125-88BC-35936641BED2}" type="datetimeFigureOut">
              <a:rPr lang="en-US" smtClean="0"/>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B8CFC8-3EFB-47C1-AD59-4B823EAD42C8}" type="slidenum">
              <a:rPr lang="en-US" smtClean="0"/>
              <a:t>‹#›</a:t>
            </a:fld>
            <a:endParaRPr lang="en-US"/>
          </a:p>
        </p:txBody>
      </p:sp>
    </p:spTree>
    <p:extLst>
      <p:ext uri="{BB962C8B-B14F-4D97-AF65-F5344CB8AC3E}">
        <p14:creationId xmlns:p14="http://schemas.microsoft.com/office/powerpoint/2010/main" val="2240409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E45910D-B335-4125-88BC-35936641BED2}" type="datetimeFigureOut">
              <a:rPr lang="en-US" smtClean="0"/>
              <a:t>9/26/2025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B8CFC8-3EFB-47C1-AD59-4B823EAD42C8}" type="slidenum">
              <a:rPr lang="en-US" smtClean="0"/>
              <a:t>‹#›</a:t>
            </a:fld>
            <a:endParaRPr lang="en-US"/>
          </a:p>
        </p:txBody>
      </p:sp>
    </p:spTree>
    <p:extLst>
      <p:ext uri="{BB962C8B-B14F-4D97-AF65-F5344CB8AC3E}">
        <p14:creationId xmlns:p14="http://schemas.microsoft.com/office/powerpoint/2010/main" val="3631975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E45910D-B335-4125-88BC-35936641BED2}" type="datetimeFigureOut">
              <a:rPr lang="en-US" smtClean="0"/>
              <a:t>9/26/2025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B8CFC8-3EFB-47C1-AD59-4B823EAD42C8}" type="slidenum">
              <a:rPr lang="en-US" smtClean="0"/>
              <a:t>‹#›</a:t>
            </a:fld>
            <a:endParaRPr lang="en-US"/>
          </a:p>
        </p:txBody>
      </p:sp>
    </p:spTree>
    <p:extLst>
      <p:ext uri="{BB962C8B-B14F-4D97-AF65-F5344CB8AC3E}">
        <p14:creationId xmlns:p14="http://schemas.microsoft.com/office/powerpoint/2010/main" val="852070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45910D-B335-4125-88BC-35936641BED2}" type="datetimeFigureOut">
              <a:rPr lang="en-US" smtClean="0"/>
              <a:t>9/26/2025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B8CFC8-3EFB-47C1-AD59-4B823EAD42C8}" type="slidenum">
              <a:rPr lang="en-US" smtClean="0"/>
              <a:t>‹#›</a:t>
            </a:fld>
            <a:endParaRPr lang="en-US"/>
          </a:p>
        </p:txBody>
      </p:sp>
    </p:spTree>
    <p:extLst>
      <p:ext uri="{BB962C8B-B14F-4D97-AF65-F5344CB8AC3E}">
        <p14:creationId xmlns:p14="http://schemas.microsoft.com/office/powerpoint/2010/main" val="1473594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E45910D-B335-4125-88BC-35936641BED2}" type="datetimeFigureOut">
              <a:rPr lang="en-US" smtClean="0"/>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B8CFC8-3EFB-47C1-AD59-4B823EAD42C8}" type="slidenum">
              <a:rPr lang="en-US" smtClean="0"/>
              <a:t>‹#›</a:t>
            </a:fld>
            <a:endParaRPr lang="en-US"/>
          </a:p>
        </p:txBody>
      </p:sp>
    </p:spTree>
    <p:extLst>
      <p:ext uri="{BB962C8B-B14F-4D97-AF65-F5344CB8AC3E}">
        <p14:creationId xmlns:p14="http://schemas.microsoft.com/office/powerpoint/2010/main" val="3429837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E45910D-B335-4125-88BC-35936641BED2}" type="datetimeFigureOut">
              <a:rPr lang="en-US" smtClean="0"/>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B8CFC8-3EFB-47C1-AD59-4B823EAD42C8}" type="slidenum">
              <a:rPr lang="en-US" smtClean="0"/>
              <a:t>‹#›</a:t>
            </a:fld>
            <a:endParaRPr lang="en-US"/>
          </a:p>
        </p:txBody>
      </p:sp>
    </p:spTree>
    <p:extLst>
      <p:ext uri="{BB962C8B-B14F-4D97-AF65-F5344CB8AC3E}">
        <p14:creationId xmlns:p14="http://schemas.microsoft.com/office/powerpoint/2010/main" val="3255134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E45910D-B335-4125-88BC-35936641BED2}" type="datetimeFigureOut">
              <a:rPr lang="en-US" smtClean="0"/>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B8CFC8-3EFB-47C1-AD59-4B823EAD42C8}" type="slidenum">
              <a:rPr lang="en-US" smtClean="0"/>
              <a:t>‹#›</a:t>
            </a:fld>
            <a:endParaRPr lang="en-US"/>
          </a:p>
        </p:txBody>
      </p:sp>
    </p:spTree>
    <p:extLst>
      <p:ext uri="{BB962C8B-B14F-4D97-AF65-F5344CB8AC3E}">
        <p14:creationId xmlns:p14="http://schemas.microsoft.com/office/powerpoint/2010/main" val="261737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5E45910D-B335-4125-88BC-35936641BED2}" type="datetimeFigureOut">
              <a:rPr lang="en-US" smtClean="0"/>
              <a:t>9/26/2025</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B9B8CFC8-3EFB-47C1-AD59-4B823EAD42C8}" type="slidenum">
              <a:rPr lang="en-US" smtClean="0"/>
              <a:t>‹#›</a:t>
            </a:fld>
            <a:endParaRPr lang="en-US"/>
          </a:p>
        </p:txBody>
      </p:sp>
    </p:spTree>
    <p:extLst>
      <p:ext uri="{BB962C8B-B14F-4D97-AF65-F5344CB8AC3E}">
        <p14:creationId xmlns:p14="http://schemas.microsoft.com/office/powerpoint/2010/main" val="1276450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5E45910D-B335-4125-88BC-35936641BED2}" type="datetimeFigureOut">
              <a:rPr lang="en-US" smtClean="0"/>
              <a:t>9/26/2025</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B9B8CFC8-3EFB-47C1-AD59-4B823EAD42C8}"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12216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5E45910D-B335-4125-88BC-35936641BED2}" type="datetimeFigureOut">
              <a:rPr lang="en-US" smtClean="0"/>
              <a:t>9/26/2025</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B9B8CFC8-3EFB-47C1-AD59-4B823EAD42C8}" type="slidenum">
              <a:rPr lang="en-US" smtClean="0"/>
              <a:t>‹#›</a:t>
            </a:fld>
            <a:endParaRPr lang="en-US"/>
          </a:p>
        </p:txBody>
      </p:sp>
    </p:spTree>
    <p:extLst>
      <p:ext uri="{BB962C8B-B14F-4D97-AF65-F5344CB8AC3E}">
        <p14:creationId xmlns:p14="http://schemas.microsoft.com/office/powerpoint/2010/main" val="3352223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E45910D-B335-4125-88BC-35936641BED2}" type="datetimeFigureOut">
              <a:rPr lang="en-US" smtClean="0"/>
              <a:t>9/26/2025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B8CFC8-3EFB-47C1-AD59-4B823EAD42C8}" type="slidenum">
              <a:rPr lang="en-US" smtClean="0"/>
              <a:t>‹#›</a:t>
            </a:fld>
            <a:endParaRPr lang="en-US"/>
          </a:p>
        </p:txBody>
      </p:sp>
    </p:spTree>
    <p:extLst>
      <p:ext uri="{BB962C8B-B14F-4D97-AF65-F5344CB8AC3E}">
        <p14:creationId xmlns:p14="http://schemas.microsoft.com/office/powerpoint/2010/main" val="41995640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E45910D-B335-4125-88BC-35936641BED2}" type="datetimeFigureOut">
              <a:rPr lang="en-US" smtClean="0"/>
              <a:t>9/26/2025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B8CFC8-3EFB-47C1-AD59-4B823EAD42C8}" type="slidenum">
              <a:rPr lang="en-US" smtClean="0"/>
              <a:t>‹#›</a:t>
            </a:fld>
            <a:endParaRPr lang="en-US"/>
          </a:p>
        </p:txBody>
      </p:sp>
    </p:spTree>
    <p:extLst>
      <p:ext uri="{BB962C8B-B14F-4D97-AF65-F5344CB8AC3E}">
        <p14:creationId xmlns:p14="http://schemas.microsoft.com/office/powerpoint/2010/main" val="18190793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E45910D-B335-4125-88BC-35936641BED2}"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B8CFC8-3EFB-47C1-AD59-4B823EAD42C8}" type="slidenum">
              <a:rPr lang="en-US" smtClean="0"/>
              <a:t>‹#›</a:t>
            </a:fld>
            <a:endParaRPr lang="en-US"/>
          </a:p>
        </p:txBody>
      </p:sp>
    </p:spTree>
    <p:extLst>
      <p:ext uri="{BB962C8B-B14F-4D97-AF65-F5344CB8AC3E}">
        <p14:creationId xmlns:p14="http://schemas.microsoft.com/office/powerpoint/2010/main" val="3708032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5E45910D-B335-4125-88BC-35936641BED2}" type="datetimeFigureOut">
              <a:rPr lang="en-US" smtClean="0"/>
              <a:t>9/26/2025</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B9B8CFC8-3EFB-47C1-AD59-4B823EAD42C8}" type="slidenum">
              <a:rPr lang="en-US" smtClean="0"/>
              <a:t>‹#›</a:t>
            </a:fld>
            <a:endParaRPr lang="en-US"/>
          </a:p>
        </p:txBody>
      </p:sp>
    </p:spTree>
    <p:extLst>
      <p:ext uri="{BB962C8B-B14F-4D97-AF65-F5344CB8AC3E}">
        <p14:creationId xmlns:p14="http://schemas.microsoft.com/office/powerpoint/2010/main" val="3234728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E45910D-B335-4125-88BC-35936641BED2}" type="datetimeFigureOut">
              <a:rPr lang="en-US" smtClean="0"/>
              <a:t>9/26/2025</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9B8CFC8-3EFB-47C1-AD59-4B823EAD42C8}" type="slidenum">
              <a:rPr lang="en-US" smtClean="0"/>
              <a:t>‹#›</a:t>
            </a:fld>
            <a:endParaRPr lang="en-US"/>
          </a:p>
        </p:txBody>
      </p:sp>
    </p:spTree>
    <p:extLst>
      <p:ext uri="{BB962C8B-B14F-4D97-AF65-F5344CB8AC3E}">
        <p14:creationId xmlns:p14="http://schemas.microsoft.com/office/powerpoint/2010/main" val="120162146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56B0ABB-2FA5-41EE-93FF-0A08D2576B90}"/>
              </a:ext>
            </a:extLst>
          </p:cNvPr>
          <p:cNvSpPr>
            <a:spLocks noGrp="1"/>
          </p:cNvSpPr>
          <p:nvPr>
            <p:ph type="title"/>
          </p:nvPr>
        </p:nvSpPr>
        <p:spPr>
          <a:xfrm>
            <a:off x="1790700" y="2057784"/>
            <a:ext cx="8610600" cy="2263307"/>
          </a:xfrm>
        </p:spPr>
        <p:txBody>
          <a:bodyPr>
            <a:normAutofit/>
          </a:bodyPr>
          <a:lstStyle/>
          <a:p>
            <a:pPr algn="ctr"/>
            <a:r>
              <a:rPr lang="en-US" sz="5400" b="1" dirty="0">
                <a:latin typeface="Times New Roman" panose="02020603050405020304" pitchFamily="18" charset="0"/>
                <a:cs typeface="Times New Roman" panose="02020603050405020304" pitchFamily="18" charset="0"/>
              </a:rPr>
              <a:t>A</a:t>
            </a:r>
            <a:r>
              <a:rPr lang="en-US" sz="5400" b="1" cap="none" dirty="0">
                <a:latin typeface="Times New Roman" panose="02020603050405020304" pitchFamily="18" charset="0"/>
                <a:cs typeface="Times New Roman" panose="02020603050405020304" pitchFamily="18" charset="0"/>
              </a:rPr>
              <a:t>nalysis of Time-Wasters on Social Media</a:t>
            </a:r>
            <a:endParaRPr lang="en-US" sz="54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C955408-F7E0-4354-B3FE-7F941DB91CB5}"/>
              </a:ext>
            </a:extLst>
          </p:cNvPr>
          <p:cNvSpPr txBox="1"/>
          <p:nvPr/>
        </p:nvSpPr>
        <p:spPr>
          <a:xfrm>
            <a:off x="9375140" y="5436925"/>
            <a:ext cx="2052320" cy="461665"/>
          </a:xfrm>
          <a:prstGeom prst="rect">
            <a:avLst/>
          </a:prstGeom>
          <a:noFill/>
        </p:spPr>
        <p:txBody>
          <a:bodyPr wrap="square" rtlCol="0">
            <a:spAutoFit/>
          </a:bodyPr>
          <a:lstStyle/>
          <a:p>
            <a:r>
              <a:rPr lang="en-US" sz="2400" b="1" dirty="0" err="1">
                <a:latin typeface="Times New Roman" panose="02020603050405020304" pitchFamily="18" charset="0"/>
                <a:cs typeface="Times New Roman" panose="02020603050405020304" pitchFamily="18" charset="0"/>
              </a:rPr>
              <a:t>Fasna</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972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12E5522-643D-45FC-A334-8669E4BFB383}"/>
              </a:ext>
            </a:extLst>
          </p:cNvPr>
          <p:cNvSpPr txBox="1"/>
          <p:nvPr/>
        </p:nvSpPr>
        <p:spPr>
          <a:xfrm>
            <a:off x="3485321" y="231352"/>
            <a:ext cx="4823792" cy="769441"/>
          </a:xfrm>
          <a:prstGeom prst="rect">
            <a:avLst/>
          </a:prstGeom>
          <a:noFill/>
        </p:spPr>
        <p:txBody>
          <a:bodyPr wrap="square" rtlCol="0">
            <a:spAutoFit/>
          </a:bodyPr>
          <a:lstStyle/>
          <a:p>
            <a:pPr algn="ctr"/>
            <a:r>
              <a:rPr lang="en-US" sz="4400" b="1" dirty="0">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26BA9B49-1D63-4033-8F17-A82C27EF53FC}"/>
              </a:ext>
            </a:extLst>
          </p:cNvPr>
          <p:cNvSpPr txBox="1"/>
          <p:nvPr/>
        </p:nvSpPr>
        <p:spPr>
          <a:xfrm>
            <a:off x="496957" y="1429528"/>
            <a:ext cx="11516139" cy="1307537"/>
          </a:xfrm>
          <a:prstGeom prst="rect">
            <a:avLst/>
          </a:prstGeom>
          <a:noFill/>
        </p:spPr>
        <p:txBody>
          <a:bodyPr wrap="square" rtlCol="0">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Social media is widely used for entertainment and connectivity, but excessive use often leads to wasted time, addiction, and productivity loss.</a:t>
            </a:r>
          </a:p>
        </p:txBody>
      </p:sp>
      <p:sp>
        <p:nvSpPr>
          <p:cNvPr id="11" name="Rectangle 3">
            <a:extLst>
              <a:ext uri="{FF2B5EF4-FFF2-40B4-BE49-F238E27FC236}">
                <a16:creationId xmlns:a16="http://schemas.microsoft.com/office/drawing/2014/main" id="{F07C1F94-9565-4136-B44D-D398987EE7F8}"/>
              </a:ext>
            </a:extLst>
          </p:cNvPr>
          <p:cNvSpPr>
            <a:spLocks noChangeArrowheads="1"/>
          </p:cNvSpPr>
          <p:nvPr/>
        </p:nvSpPr>
        <p:spPr bwMode="auto">
          <a:xfrm>
            <a:off x="496956" y="3152194"/>
            <a:ext cx="11516140" cy="2980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Platforms like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TikTok</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Instagram, YouTube, and Facebook are analyzed for user engagement.</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dataset covers demographics, usage habits, addiction levels, and productivity impacts.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study focuses on user behavior patterns, platform differences, and time-wasting effects.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analysis highlights risks and suggests strategies for healthier social media usage</a:t>
            </a:r>
            <a:r>
              <a:rPr kumimoji="0" lang="en-US" altLang="en-US" sz="24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021351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724F09-9830-45AE-88A2-4FE94E45907B}"/>
              </a:ext>
            </a:extLst>
          </p:cNvPr>
          <p:cNvSpPr txBox="1"/>
          <p:nvPr/>
        </p:nvSpPr>
        <p:spPr>
          <a:xfrm>
            <a:off x="3392557" y="662609"/>
            <a:ext cx="4863547" cy="707886"/>
          </a:xfrm>
          <a:prstGeom prst="rect">
            <a:avLst/>
          </a:prstGeom>
          <a:noFill/>
        </p:spPr>
        <p:txBody>
          <a:bodyPr wrap="square" rtlCol="0">
            <a:spAutoFit/>
          </a:bodyPr>
          <a:lstStyle/>
          <a:p>
            <a:pPr algn="ctr"/>
            <a:r>
              <a:rPr lang="en-US" sz="4000" b="1" dirty="0">
                <a:latin typeface="Times New Roman" panose="02020603050405020304" pitchFamily="18" charset="0"/>
                <a:cs typeface="Times New Roman" panose="02020603050405020304" pitchFamily="18" charset="0"/>
              </a:rPr>
              <a:t>Data Overview</a:t>
            </a:r>
          </a:p>
        </p:txBody>
      </p:sp>
      <p:sp>
        <p:nvSpPr>
          <p:cNvPr id="3" name="TextBox 2">
            <a:extLst>
              <a:ext uri="{FF2B5EF4-FFF2-40B4-BE49-F238E27FC236}">
                <a16:creationId xmlns:a16="http://schemas.microsoft.com/office/drawing/2014/main" id="{FBC168ED-BB7D-41E7-AD1C-B474346B117E}"/>
              </a:ext>
            </a:extLst>
          </p:cNvPr>
          <p:cNvSpPr txBox="1"/>
          <p:nvPr/>
        </p:nvSpPr>
        <p:spPr>
          <a:xfrm>
            <a:off x="569844" y="1370495"/>
            <a:ext cx="10389704" cy="4801314"/>
          </a:xfrm>
          <a:prstGeom prst="rect">
            <a:avLst/>
          </a:prstGeom>
          <a:noFill/>
        </p:spPr>
        <p:txBody>
          <a:bodyPr wrap="square" rtlCol="0">
            <a:spAutoFit/>
          </a:bodyPr>
          <a:lstStyle/>
          <a:p>
            <a:pPr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Dataset</a:t>
            </a:r>
            <a:r>
              <a:rPr lang="en-US" sz="2400" dirty="0">
                <a:latin typeface="Times New Roman" panose="02020603050405020304" pitchFamily="18" charset="0"/>
                <a:cs typeface="Times New Roman" panose="02020603050405020304" pitchFamily="18" charset="0"/>
              </a:rPr>
              <a:t>: Social media usage data covering demographics, behavior, addiction, and productivity loss.</a:t>
            </a:r>
          </a:p>
          <a:p>
            <a:pPr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Users Covered</a:t>
            </a:r>
            <a:r>
              <a:rPr lang="en-US" sz="2400" dirty="0">
                <a:latin typeface="Times New Roman" panose="02020603050405020304" pitchFamily="18" charset="0"/>
                <a:cs typeface="Times New Roman" panose="02020603050405020304" pitchFamily="18" charset="0"/>
              </a:rPr>
              <a:t>: Respondents across different age groups, professions, and locations.</a:t>
            </a:r>
          </a:p>
          <a:p>
            <a:pPr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Total Records</a:t>
            </a:r>
            <a:r>
              <a:rPr lang="en-US" sz="2400" dirty="0">
                <a:latin typeface="Times New Roman" panose="02020603050405020304" pitchFamily="18" charset="0"/>
                <a:cs typeface="Times New Roman" panose="02020603050405020304" pitchFamily="18" charset="0"/>
              </a:rPr>
              <a:t>: 1000 rows × 31 columns</a:t>
            </a:r>
          </a:p>
          <a:p>
            <a:pPr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Key Features</a:t>
            </a:r>
            <a:r>
              <a:rPr lang="en-US" sz="2400" dirty="0">
                <a:latin typeface="Times New Roman" panose="02020603050405020304" pitchFamily="18" charset="0"/>
                <a:cs typeface="Times New Roman" panose="02020603050405020304" pitchFamily="18" charset="0"/>
              </a:rPr>
              <a:t>: Age, Gender, Platform, Watch Time, Addiction Level, Self-Control, Productivity Loss, Device, Connection Type, and Engagement.</a:t>
            </a:r>
          </a:p>
          <a:p>
            <a:pPr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Data Source</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Kaggle</a:t>
            </a:r>
            <a:endParaRPr 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851629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23356F-D2E1-42CE-B169-F45034ED2CC4}"/>
              </a:ext>
            </a:extLst>
          </p:cNvPr>
          <p:cNvSpPr txBox="1"/>
          <p:nvPr/>
        </p:nvSpPr>
        <p:spPr>
          <a:xfrm>
            <a:off x="3763618" y="900283"/>
            <a:ext cx="3975652" cy="707886"/>
          </a:xfrm>
          <a:prstGeom prst="rect">
            <a:avLst/>
          </a:prstGeom>
          <a:noFill/>
        </p:spPr>
        <p:txBody>
          <a:bodyPr wrap="square" rtlCol="0">
            <a:spAutoFit/>
          </a:bodyPr>
          <a:lstStyle/>
          <a:p>
            <a:pPr algn="ctr"/>
            <a:r>
              <a:rPr lang="en-US" sz="4000" b="1" dirty="0">
                <a:latin typeface="Times New Roman" panose="02020603050405020304" pitchFamily="18" charset="0"/>
                <a:cs typeface="Times New Roman" panose="02020603050405020304" pitchFamily="18" charset="0"/>
              </a:rPr>
              <a:t>objectives</a:t>
            </a:r>
          </a:p>
        </p:txBody>
      </p:sp>
      <p:sp>
        <p:nvSpPr>
          <p:cNvPr id="3" name="TextBox 2">
            <a:extLst>
              <a:ext uri="{FF2B5EF4-FFF2-40B4-BE49-F238E27FC236}">
                <a16:creationId xmlns:a16="http://schemas.microsoft.com/office/drawing/2014/main" id="{CCB75120-D855-406F-A937-2AB9F774F1CC}"/>
              </a:ext>
            </a:extLst>
          </p:cNvPr>
          <p:cNvSpPr txBox="1"/>
          <p:nvPr/>
        </p:nvSpPr>
        <p:spPr>
          <a:xfrm>
            <a:off x="894521" y="2128900"/>
            <a:ext cx="10899914" cy="2600199"/>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analyze user behavior patterns across social media.</a:t>
            </a:r>
          </a:p>
          <a:p>
            <a:pPr marL="285750" indent="-28575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To evaluate the relationship between social media addiction and productivity loss across different platforms.</a:t>
            </a:r>
          </a:p>
          <a:p>
            <a:pPr marL="285750" indent="-28575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To study how the factors influence social media usage and </a:t>
            </a:r>
            <a:r>
              <a:rPr lang="en-US" sz="2800" dirty="0" err="1">
                <a:latin typeface="Times New Roman" panose="02020603050405020304" pitchFamily="18" charset="0"/>
                <a:cs typeface="Times New Roman" panose="02020603050405020304" pitchFamily="18" charset="0"/>
              </a:rPr>
              <a:t>addicition</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9662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6BEB3-10B5-49C4-A358-24A9F12C2790}"/>
              </a:ext>
            </a:extLst>
          </p:cNvPr>
          <p:cNvSpPr>
            <a:spLocks noGrp="1"/>
          </p:cNvSpPr>
          <p:nvPr>
            <p:ph type="title"/>
          </p:nvPr>
        </p:nvSpPr>
        <p:spPr>
          <a:xfrm>
            <a:off x="1868556" y="0"/>
            <a:ext cx="8060633" cy="1293028"/>
          </a:xfrm>
        </p:spPr>
        <p:txBody>
          <a:bodyPr/>
          <a:lstStyle/>
          <a:p>
            <a:pPr algn="ctr"/>
            <a:r>
              <a:rPr lang="en-US" sz="3600" b="1" dirty="0">
                <a:latin typeface="Times New Roman" panose="02020603050405020304" pitchFamily="18" charset="0"/>
                <a:cs typeface="Times New Roman" panose="02020603050405020304" pitchFamily="18" charset="0"/>
              </a:rPr>
              <a:t>Gender</a:t>
            </a:r>
            <a:r>
              <a:rPr lang="en-US" b="1" dirty="0">
                <a:latin typeface="Times New Roman" panose="02020603050405020304" pitchFamily="18" charset="0"/>
                <a:cs typeface="Times New Roman" panose="02020603050405020304" pitchFamily="18" charset="0"/>
              </a:rPr>
              <a:t> Representation</a:t>
            </a:r>
            <a:r>
              <a:rPr lang="en-US" dirty="0"/>
              <a:t> </a:t>
            </a:r>
          </a:p>
        </p:txBody>
      </p:sp>
      <p:pic>
        <p:nvPicPr>
          <p:cNvPr id="5" name="Content Placeholder 4">
            <a:extLst>
              <a:ext uri="{FF2B5EF4-FFF2-40B4-BE49-F238E27FC236}">
                <a16:creationId xmlns:a16="http://schemas.microsoft.com/office/drawing/2014/main" id="{23F55DFF-EF10-478F-BD0A-B18CFED6544E}"/>
              </a:ext>
            </a:extLst>
          </p:cNvPr>
          <p:cNvPicPr>
            <a:picLocks noGrp="1" noChangeAspect="1"/>
          </p:cNvPicPr>
          <p:nvPr>
            <p:ph idx="1"/>
          </p:nvPr>
        </p:nvPicPr>
        <p:blipFill>
          <a:blip r:embed="rId2"/>
          <a:stretch>
            <a:fillRect/>
          </a:stretch>
        </p:blipFill>
        <p:spPr>
          <a:xfrm>
            <a:off x="3202400" y="1293028"/>
            <a:ext cx="5601670" cy="3861817"/>
          </a:xfrm>
        </p:spPr>
      </p:pic>
      <p:sp>
        <p:nvSpPr>
          <p:cNvPr id="6" name="TextBox 5">
            <a:extLst>
              <a:ext uri="{FF2B5EF4-FFF2-40B4-BE49-F238E27FC236}">
                <a16:creationId xmlns:a16="http://schemas.microsoft.com/office/drawing/2014/main" id="{D0B55B3F-1FBF-49B2-89D6-D8BD11EB1BC8}"/>
              </a:ext>
            </a:extLst>
          </p:cNvPr>
          <p:cNvSpPr txBox="1"/>
          <p:nvPr/>
        </p:nvSpPr>
        <p:spPr>
          <a:xfrm>
            <a:off x="238539" y="5618922"/>
            <a:ext cx="11820939" cy="98488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pie chart shows that 51% of the dataset identifies as Male, 32% as Female, and 16% as Other. This highlights a majority of Male entries in the gender distribution</a:t>
            </a:r>
            <a:r>
              <a:rPr lang="en-US" dirty="0"/>
              <a:t>.</a:t>
            </a:r>
          </a:p>
          <a:p>
            <a:endParaRPr lang="en-US" dirty="0"/>
          </a:p>
        </p:txBody>
      </p:sp>
    </p:spTree>
    <p:extLst>
      <p:ext uri="{BB962C8B-B14F-4D97-AF65-F5344CB8AC3E}">
        <p14:creationId xmlns:p14="http://schemas.microsoft.com/office/powerpoint/2010/main" val="3096488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420DCF-E5FC-4449-972B-602799CD47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8274" y="1192032"/>
            <a:ext cx="6583019" cy="3949811"/>
          </a:xfrm>
          <a:prstGeom prst="rect">
            <a:avLst/>
          </a:prstGeom>
        </p:spPr>
      </p:pic>
      <p:sp>
        <p:nvSpPr>
          <p:cNvPr id="4" name="TextBox 3">
            <a:extLst>
              <a:ext uri="{FF2B5EF4-FFF2-40B4-BE49-F238E27FC236}">
                <a16:creationId xmlns:a16="http://schemas.microsoft.com/office/drawing/2014/main" id="{B211A5C2-6936-4C4A-8E16-315AEE5F1000}"/>
              </a:ext>
            </a:extLst>
          </p:cNvPr>
          <p:cNvSpPr txBox="1"/>
          <p:nvPr/>
        </p:nvSpPr>
        <p:spPr>
          <a:xfrm>
            <a:off x="927652" y="371061"/>
            <a:ext cx="10031896"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Comparison of Watching Reasons Across Genders</a:t>
            </a:r>
          </a:p>
        </p:txBody>
      </p:sp>
      <p:sp>
        <p:nvSpPr>
          <p:cNvPr id="5" name="TextBox 4">
            <a:extLst>
              <a:ext uri="{FF2B5EF4-FFF2-40B4-BE49-F238E27FC236}">
                <a16:creationId xmlns:a16="http://schemas.microsoft.com/office/drawing/2014/main" id="{C2C8451C-E7DB-4D02-80FF-45ED84385EE9}"/>
              </a:ext>
            </a:extLst>
          </p:cNvPr>
          <p:cNvSpPr txBox="1"/>
          <p:nvPr/>
        </p:nvSpPr>
        <p:spPr>
          <a:xfrm>
            <a:off x="278296" y="5698435"/>
            <a:ext cx="11913704" cy="98488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most common reason to watch social media is a </a:t>
            </a:r>
            <a:r>
              <a:rPr lang="en-US" sz="2000" dirty="0" err="1">
                <a:latin typeface="Times New Roman" panose="02020603050405020304" pitchFamily="18" charset="0"/>
                <a:cs typeface="Times New Roman" panose="02020603050405020304" pitchFamily="18" charset="0"/>
              </a:rPr>
              <a:t>Habit,especially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males.Entertainment</a:t>
            </a:r>
            <a:r>
              <a:rPr lang="en-US" sz="2000" dirty="0">
                <a:latin typeface="Times New Roman" panose="02020603050405020304" pitchFamily="18" charset="0"/>
                <a:cs typeface="Times New Roman" panose="02020603050405020304" pitchFamily="18" charset="0"/>
              </a:rPr>
              <a:t> and Boredom are also significant reasons</a:t>
            </a:r>
          </a:p>
          <a:p>
            <a:endParaRPr lang="en-US" dirty="0"/>
          </a:p>
        </p:txBody>
      </p:sp>
    </p:spTree>
    <p:extLst>
      <p:ext uri="{BB962C8B-B14F-4D97-AF65-F5344CB8AC3E}">
        <p14:creationId xmlns:p14="http://schemas.microsoft.com/office/powerpoint/2010/main" val="4273281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1F0921-928D-4B3D-ABAD-283E0ABF28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9373" y="1138856"/>
            <a:ext cx="6953254" cy="4171952"/>
          </a:xfrm>
          <a:prstGeom prst="rect">
            <a:avLst/>
          </a:prstGeom>
        </p:spPr>
      </p:pic>
      <p:sp>
        <p:nvSpPr>
          <p:cNvPr id="5" name="TextBox 4">
            <a:extLst>
              <a:ext uri="{FF2B5EF4-FFF2-40B4-BE49-F238E27FC236}">
                <a16:creationId xmlns:a16="http://schemas.microsoft.com/office/drawing/2014/main" id="{7847B05E-589B-4C51-99AB-1CBB35EC406C}"/>
              </a:ext>
            </a:extLst>
          </p:cNvPr>
          <p:cNvSpPr txBox="1"/>
          <p:nvPr/>
        </p:nvSpPr>
        <p:spPr>
          <a:xfrm>
            <a:off x="92765" y="344557"/>
            <a:ext cx="11754677"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Addiction Levels Across Different Age Groups</a:t>
            </a:r>
          </a:p>
        </p:txBody>
      </p:sp>
      <p:sp>
        <p:nvSpPr>
          <p:cNvPr id="7" name="TextBox 6">
            <a:extLst>
              <a:ext uri="{FF2B5EF4-FFF2-40B4-BE49-F238E27FC236}">
                <a16:creationId xmlns:a16="http://schemas.microsoft.com/office/drawing/2014/main" id="{AF26A59C-C9FC-4BAC-8858-7BE9BBDFABBA}"/>
              </a:ext>
            </a:extLst>
          </p:cNvPr>
          <p:cNvSpPr txBox="1"/>
          <p:nvPr/>
        </p:nvSpPr>
        <p:spPr>
          <a:xfrm>
            <a:off x="1214642" y="5565338"/>
            <a:ext cx="10354505" cy="67710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It shows the addiction levels fluctuates across ages with noticeable spikes in middle age ranges</a:t>
            </a:r>
          </a:p>
          <a:p>
            <a:endParaRPr lang="en-US" dirty="0"/>
          </a:p>
        </p:txBody>
      </p:sp>
    </p:spTree>
    <p:extLst>
      <p:ext uri="{BB962C8B-B14F-4D97-AF65-F5344CB8AC3E}">
        <p14:creationId xmlns:p14="http://schemas.microsoft.com/office/powerpoint/2010/main" val="3632753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0315E9-6EBE-4742-89F3-230B6808D6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2318" y="1505776"/>
            <a:ext cx="7692895" cy="3846447"/>
          </a:xfrm>
          <a:prstGeom prst="rect">
            <a:avLst/>
          </a:prstGeom>
        </p:spPr>
      </p:pic>
      <p:sp>
        <p:nvSpPr>
          <p:cNvPr id="4" name="TextBox 3">
            <a:extLst>
              <a:ext uri="{FF2B5EF4-FFF2-40B4-BE49-F238E27FC236}">
                <a16:creationId xmlns:a16="http://schemas.microsoft.com/office/drawing/2014/main" id="{36F2AD19-9A31-44D5-94A7-D7FFD698C061}"/>
              </a:ext>
            </a:extLst>
          </p:cNvPr>
          <p:cNvSpPr txBox="1"/>
          <p:nvPr/>
        </p:nvSpPr>
        <p:spPr>
          <a:xfrm>
            <a:off x="1000538" y="410817"/>
            <a:ext cx="10190921"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Social Media Usage Correlation Heatmap</a:t>
            </a:r>
          </a:p>
        </p:txBody>
      </p:sp>
      <p:sp>
        <p:nvSpPr>
          <p:cNvPr id="5" name="TextBox 4">
            <a:extLst>
              <a:ext uri="{FF2B5EF4-FFF2-40B4-BE49-F238E27FC236}">
                <a16:creationId xmlns:a16="http://schemas.microsoft.com/office/drawing/2014/main" id="{A71B3E0B-1108-4441-987A-7D14A765776C}"/>
              </a:ext>
            </a:extLst>
          </p:cNvPr>
          <p:cNvSpPr txBox="1"/>
          <p:nvPr/>
        </p:nvSpPr>
        <p:spPr>
          <a:xfrm>
            <a:off x="404191" y="5671930"/>
            <a:ext cx="11695044" cy="98488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Satisfaction, Self-Control, Addiction Level, and Productivity Loss are almost perfectly correlated, While income and Debt are highly correlated</a:t>
            </a:r>
          </a:p>
          <a:p>
            <a:endParaRPr lang="en-US" dirty="0"/>
          </a:p>
        </p:txBody>
      </p:sp>
    </p:spTree>
    <p:extLst>
      <p:ext uri="{BB962C8B-B14F-4D97-AF65-F5344CB8AC3E}">
        <p14:creationId xmlns:p14="http://schemas.microsoft.com/office/powerpoint/2010/main" val="3031511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89FA43-79F6-450F-80D6-32B1E6DC5074}"/>
              </a:ext>
            </a:extLst>
          </p:cNvPr>
          <p:cNvSpPr txBox="1"/>
          <p:nvPr/>
        </p:nvSpPr>
        <p:spPr>
          <a:xfrm>
            <a:off x="2133600" y="265044"/>
            <a:ext cx="792480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Time Spent vs. Addiction Level</a:t>
            </a:r>
          </a:p>
        </p:txBody>
      </p:sp>
      <p:pic>
        <p:nvPicPr>
          <p:cNvPr id="4" name="Picture 3">
            <a:extLst>
              <a:ext uri="{FF2B5EF4-FFF2-40B4-BE49-F238E27FC236}">
                <a16:creationId xmlns:a16="http://schemas.microsoft.com/office/drawing/2014/main" id="{19EA0324-B956-4E7C-B871-D37DB6BF17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911375"/>
            <a:ext cx="7474226" cy="4641286"/>
          </a:xfrm>
          <a:prstGeom prst="rect">
            <a:avLst/>
          </a:prstGeom>
        </p:spPr>
      </p:pic>
      <p:sp>
        <p:nvSpPr>
          <p:cNvPr id="5" name="TextBox 4">
            <a:extLst>
              <a:ext uri="{FF2B5EF4-FFF2-40B4-BE49-F238E27FC236}">
                <a16:creationId xmlns:a16="http://schemas.microsoft.com/office/drawing/2014/main" id="{4786340C-41D3-448E-91BF-20FC494395D9}"/>
              </a:ext>
            </a:extLst>
          </p:cNvPr>
          <p:cNvSpPr txBox="1"/>
          <p:nvPr/>
        </p:nvSpPr>
        <p:spPr>
          <a:xfrm>
            <a:off x="159026" y="5706549"/>
            <a:ext cx="11794435" cy="98488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scatterplot shows that higher total time spent on social media generally corresponds to higher addiction levels, with little difference across genders.</a:t>
            </a:r>
          </a:p>
          <a:p>
            <a:endParaRPr lang="en-US" dirty="0"/>
          </a:p>
        </p:txBody>
      </p:sp>
    </p:spTree>
    <p:extLst>
      <p:ext uri="{BB962C8B-B14F-4D97-AF65-F5344CB8AC3E}">
        <p14:creationId xmlns:p14="http://schemas.microsoft.com/office/powerpoint/2010/main" val="633018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0A478D-BB9B-4E8F-A10F-A058A7F9D6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2939" y="1245704"/>
            <a:ext cx="9886122" cy="4081671"/>
          </a:xfrm>
          <a:prstGeom prst="rect">
            <a:avLst/>
          </a:prstGeom>
        </p:spPr>
      </p:pic>
      <p:sp>
        <p:nvSpPr>
          <p:cNvPr id="4" name="TextBox 3">
            <a:extLst>
              <a:ext uri="{FF2B5EF4-FFF2-40B4-BE49-F238E27FC236}">
                <a16:creationId xmlns:a16="http://schemas.microsoft.com/office/drawing/2014/main" id="{06B2B178-446E-4488-A2A4-4EA7E598C490}"/>
              </a:ext>
            </a:extLst>
          </p:cNvPr>
          <p:cNvSpPr txBox="1"/>
          <p:nvPr/>
        </p:nvSpPr>
        <p:spPr>
          <a:xfrm>
            <a:off x="1470991" y="424070"/>
            <a:ext cx="9223513"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Watch Time by Age &amp; Gender</a:t>
            </a:r>
          </a:p>
        </p:txBody>
      </p:sp>
      <p:sp>
        <p:nvSpPr>
          <p:cNvPr id="5" name="TextBox 4">
            <a:extLst>
              <a:ext uri="{FF2B5EF4-FFF2-40B4-BE49-F238E27FC236}">
                <a16:creationId xmlns:a16="http://schemas.microsoft.com/office/drawing/2014/main" id="{A53CAC2E-AAE9-40DB-B693-034E9F52C2BE}"/>
              </a:ext>
            </a:extLst>
          </p:cNvPr>
          <p:cNvSpPr txBox="1"/>
          <p:nvPr/>
        </p:nvSpPr>
        <p:spPr>
          <a:xfrm>
            <a:off x="1868557" y="5612296"/>
            <a:ext cx="9263269" cy="67710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Watch time Varies by age but shows no major differences across genders.</a:t>
            </a:r>
          </a:p>
          <a:p>
            <a:endParaRPr lang="en-US" dirty="0"/>
          </a:p>
        </p:txBody>
      </p:sp>
    </p:spTree>
    <p:extLst>
      <p:ext uri="{BB962C8B-B14F-4D97-AF65-F5344CB8AC3E}">
        <p14:creationId xmlns:p14="http://schemas.microsoft.com/office/powerpoint/2010/main" val="3316166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93DB38-03A0-4ACC-A835-4215A208BC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2783" y="1192697"/>
            <a:ext cx="8494643" cy="4267200"/>
          </a:xfrm>
          <a:prstGeom prst="rect">
            <a:avLst/>
          </a:prstGeom>
        </p:spPr>
      </p:pic>
      <p:sp>
        <p:nvSpPr>
          <p:cNvPr id="4" name="TextBox 3">
            <a:extLst>
              <a:ext uri="{FF2B5EF4-FFF2-40B4-BE49-F238E27FC236}">
                <a16:creationId xmlns:a16="http://schemas.microsoft.com/office/drawing/2014/main" id="{3E51797D-2633-45CE-B941-BBDB83F505F0}"/>
              </a:ext>
            </a:extLst>
          </p:cNvPr>
          <p:cNvSpPr txBox="1"/>
          <p:nvPr/>
        </p:nvSpPr>
        <p:spPr>
          <a:xfrm>
            <a:off x="1232452" y="371061"/>
            <a:ext cx="9515061"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Self-Control by Profession &amp; Gender</a:t>
            </a:r>
          </a:p>
        </p:txBody>
      </p:sp>
      <p:sp>
        <p:nvSpPr>
          <p:cNvPr id="5" name="TextBox 4">
            <a:extLst>
              <a:ext uri="{FF2B5EF4-FFF2-40B4-BE49-F238E27FC236}">
                <a16:creationId xmlns:a16="http://schemas.microsoft.com/office/drawing/2014/main" id="{3FBF0AB6-D221-4CBF-9BDF-E8C0D6853443}"/>
              </a:ext>
            </a:extLst>
          </p:cNvPr>
          <p:cNvSpPr txBox="1"/>
          <p:nvPr/>
        </p:nvSpPr>
        <p:spPr>
          <a:xfrm>
            <a:off x="1722783" y="5809831"/>
            <a:ext cx="9183757" cy="67710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Self-control scores are steady across professions, with no major gender differences.</a:t>
            </a:r>
          </a:p>
          <a:p>
            <a:endParaRPr lang="en-US" dirty="0"/>
          </a:p>
        </p:txBody>
      </p:sp>
    </p:spTree>
    <p:extLst>
      <p:ext uri="{BB962C8B-B14F-4D97-AF65-F5344CB8AC3E}">
        <p14:creationId xmlns:p14="http://schemas.microsoft.com/office/powerpoint/2010/main" val="3364986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2104F9-5651-41C4-890F-132BF62997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026" y="765602"/>
            <a:ext cx="6122505" cy="4492487"/>
          </a:xfrm>
          <a:prstGeom prst="rect">
            <a:avLst/>
          </a:prstGeom>
        </p:spPr>
      </p:pic>
      <p:pic>
        <p:nvPicPr>
          <p:cNvPr id="5" name="Picture 4">
            <a:extLst>
              <a:ext uri="{FF2B5EF4-FFF2-40B4-BE49-F238E27FC236}">
                <a16:creationId xmlns:a16="http://schemas.microsoft.com/office/drawing/2014/main" id="{1EF9362A-4BB2-4AF2-BBAB-E189A100B0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0557" y="765601"/>
            <a:ext cx="5420138" cy="4492488"/>
          </a:xfrm>
          <a:prstGeom prst="rect">
            <a:avLst/>
          </a:prstGeom>
        </p:spPr>
      </p:pic>
      <p:sp>
        <p:nvSpPr>
          <p:cNvPr id="6" name="TextBox 5">
            <a:extLst>
              <a:ext uri="{FF2B5EF4-FFF2-40B4-BE49-F238E27FC236}">
                <a16:creationId xmlns:a16="http://schemas.microsoft.com/office/drawing/2014/main" id="{98AD0B51-9E9A-41E7-B226-D651AD3A9C63}"/>
              </a:ext>
            </a:extLst>
          </p:cNvPr>
          <p:cNvSpPr txBox="1"/>
          <p:nvPr/>
        </p:nvSpPr>
        <p:spPr>
          <a:xfrm>
            <a:off x="0" y="119270"/>
            <a:ext cx="1219200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Social Media Engagement Across Locations and Categories</a:t>
            </a:r>
          </a:p>
        </p:txBody>
      </p:sp>
      <p:sp>
        <p:nvSpPr>
          <p:cNvPr id="7" name="TextBox 6">
            <a:extLst>
              <a:ext uri="{FF2B5EF4-FFF2-40B4-BE49-F238E27FC236}">
                <a16:creationId xmlns:a16="http://schemas.microsoft.com/office/drawing/2014/main" id="{4083CA77-D391-4CC9-AA9A-2330F9AC2D10}"/>
              </a:ext>
            </a:extLst>
          </p:cNvPr>
          <p:cNvSpPr txBox="1"/>
          <p:nvPr/>
        </p:nvSpPr>
        <p:spPr>
          <a:xfrm>
            <a:off x="119270" y="5258089"/>
            <a:ext cx="11953460" cy="1754326"/>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Engagement levels are broadly consistent across platforms and locations, though countries like Pakistan and India show more variability in engagement compared to others.</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All video categories show similarly high engagement levels, with only slight variations Comedy has the lowest engagement, while Vlogs and Gaming perform the best.</a:t>
            </a:r>
          </a:p>
          <a:p>
            <a:endParaRPr lang="en-US" dirty="0"/>
          </a:p>
        </p:txBody>
      </p:sp>
    </p:spTree>
    <p:extLst>
      <p:ext uri="{BB962C8B-B14F-4D97-AF65-F5344CB8AC3E}">
        <p14:creationId xmlns:p14="http://schemas.microsoft.com/office/powerpoint/2010/main" val="3840424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17B52D-4E0E-45E7-A387-2A812EE603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271" y="898122"/>
            <a:ext cx="5234608" cy="4124451"/>
          </a:xfrm>
          <a:prstGeom prst="rect">
            <a:avLst/>
          </a:prstGeom>
        </p:spPr>
      </p:pic>
      <p:pic>
        <p:nvPicPr>
          <p:cNvPr id="5" name="Picture 4">
            <a:extLst>
              <a:ext uri="{FF2B5EF4-FFF2-40B4-BE49-F238E27FC236}">
                <a16:creationId xmlns:a16="http://schemas.microsoft.com/office/drawing/2014/main" id="{5BB87E8B-FBC8-4CD5-8536-0A221557A0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59896" y="898122"/>
            <a:ext cx="6732104" cy="4124451"/>
          </a:xfrm>
          <a:prstGeom prst="rect">
            <a:avLst/>
          </a:prstGeom>
        </p:spPr>
      </p:pic>
      <p:sp>
        <p:nvSpPr>
          <p:cNvPr id="6" name="TextBox 5">
            <a:extLst>
              <a:ext uri="{FF2B5EF4-FFF2-40B4-BE49-F238E27FC236}">
                <a16:creationId xmlns:a16="http://schemas.microsoft.com/office/drawing/2014/main" id="{5AA4F671-EB4B-4E7E-B052-817A1A7E8E2E}"/>
              </a:ext>
            </a:extLst>
          </p:cNvPr>
          <p:cNvSpPr txBox="1"/>
          <p:nvPr/>
        </p:nvSpPr>
        <p:spPr>
          <a:xfrm>
            <a:off x="119271" y="251791"/>
            <a:ext cx="11675164"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Platform Usage, Addiction, and Productivity Impact</a:t>
            </a:r>
          </a:p>
        </p:txBody>
      </p:sp>
      <p:sp>
        <p:nvSpPr>
          <p:cNvPr id="8" name="TextBox 7">
            <a:extLst>
              <a:ext uri="{FF2B5EF4-FFF2-40B4-BE49-F238E27FC236}">
                <a16:creationId xmlns:a16="http://schemas.microsoft.com/office/drawing/2014/main" id="{B27FDDCF-4ED1-4286-B10C-AADE46D96D87}"/>
              </a:ext>
            </a:extLst>
          </p:cNvPr>
          <p:cNvSpPr txBox="1"/>
          <p:nvPr/>
        </p:nvSpPr>
        <p:spPr>
          <a:xfrm>
            <a:off x="0" y="5184626"/>
            <a:ext cx="12192000" cy="1754326"/>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Scrolling is a universal behavior across social media platforms, with little variation between them.</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TikTok</a:t>
            </a:r>
            <a:r>
              <a:rPr lang="en-US" dirty="0">
                <a:latin typeface="Times New Roman" panose="02020603050405020304" pitchFamily="18" charset="0"/>
                <a:cs typeface="Times New Roman" panose="02020603050405020304" pitchFamily="18" charset="0"/>
              </a:rPr>
              <a:t> shows the highest combined addiction and productivity loss, followed by Instagram and YouTube, while Facebook has the lowest impact</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637175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637411-C544-4543-99CE-6D50780C97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9131" y="1137365"/>
            <a:ext cx="7938052" cy="4428547"/>
          </a:xfrm>
          <a:prstGeom prst="rect">
            <a:avLst/>
          </a:prstGeom>
        </p:spPr>
      </p:pic>
      <p:sp>
        <p:nvSpPr>
          <p:cNvPr id="4" name="TextBox 3">
            <a:extLst>
              <a:ext uri="{FF2B5EF4-FFF2-40B4-BE49-F238E27FC236}">
                <a16:creationId xmlns:a16="http://schemas.microsoft.com/office/drawing/2014/main" id="{7B6E0076-48A7-4C5D-8750-103D9F35368A}"/>
              </a:ext>
            </a:extLst>
          </p:cNvPr>
          <p:cNvSpPr txBox="1"/>
          <p:nvPr/>
        </p:nvSpPr>
        <p:spPr>
          <a:xfrm>
            <a:off x="834886" y="357808"/>
            <a:ext cx="11025809"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Connection Type Among Social Media Users</a:t>
            </a:r>
          </a:p>
        </p:txBody>
      </p:sp>
      <p:sp>
        <p:nvSpPr>
          <p:cNvPr id="5" name="TextBox 4">
            <a:extLst>
              <a:ext uri="{FF2B5EF4-FFF2-40B4-BE49-F238E27FC236}">
                <a16:creationId xmlns:a16="http://schemas.microsoft.com/office/drawing/2014/main" id="{0E009207-CF61-4EB3-A09D-3E91EF67FCA3}"/>
              </a:ext>
            </a:extLst>
          </p:cNvPr>
          <p:cNvSpPr txBox="1"/>
          <p:nvPr/>
        </p:nvSpPr>
        <p:spPr>
          <a:xfrm>
            <a:off x="397565" y="5823084"/>
            <a:ext cx="11463130" cy="67710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majority of users (about two-thirds) are connecting via mobile data rather than Wi-Fi.</a:t>
            </a:r>
          </a:p>
          <a:p>
            <a:endParaRPr lang="en-US" dirty="0"/>
          </a:p>
        </p:txBody>
      </p:sp>
    </p:spTree>
    <p:extLst>
      <p:ext uri="{BB962C8B-B14F-4D97-AF65-F5344CB8AC3E}">
        <p14:creationId xmlns:p14="http://schemas.microsoft.com/office/powerpoint/2010/main" val="2641674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B986EB-FB3A-4237-A916-6E6FE8D739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7217" y="904456"/>
            <a:ext cx="8017565" cy="4572009"/>
          </a:xfrm>
          <a:prstGeom prst="rect">
            <a:avLst/>
          </a:prstGeom>
        </p:spPr>
      </p:pic>
      <p:sp>
        <p:nvSpPr>
          <p:cNvPr id="4" name="TextBox 3">
            <a:extLst>
              <a:ext uri="{FF2B5EF4-FFF2-40B4-BE49-F238E27FC236}">
                <a16:creationId xmlns:a16="http://schemas.microsoft.com/office/drawing/2014/main" id="{D0C27CD5-9FC4-4566-9EB0-855562993559}"/>
              </a:ext>
            </a:extLst>
          </p:cNvPr>
          <p:cNvSpPr txBox="1"/>
          <p:nvPr/>
        </p:nvSpPr>
        <p:spPr>
          <a:xfrm>
            <a:off x="1948070" y="198783"/>
            <a:ext cx="8017565"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Operating System Usage Distribution</a:t>
            </a:r>
          </a:p>
        </p:txBody>
      </p:sp>
      <p:sp>
        <p:nvSpPr>
          <p:cNvPr id="5" name="TextBox 4">
            <a:extLst>
              <a:ext uri="{FF2B5EF4-FFF2-40B4-BE49-F238E27FC236}">
                <a16:creationId xmlns:a16="http://schemas.microsoft.com/office/drawing/2014/main" id="{D21A04BE-0CFA-48FF-BF5F-C6FCCD68A3F4}"/>
              </a:ext>
            </a:extLst>
          </p:cNvPr>
          <p:cNvSpPr txBox="1"/>
          <p:nvPr/>
        </p:nvSpPr>
        <p:spPr>
          <a:xfrm>
            <a:off x="251792" y="5953544"/>
            <a:ext cx="11847444" cy="98488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Most users access via Android (largest share) followed by iOS, while desktop usage (MacOS &amp; Windows) is minimal, confirming a mobile-first audience.</a:t>
            </a:r>
          </a:p>
          <a:p>
            <a:endParaRPr lang="en-US" dirty="0"/>
          </a:p>
        </p:txBody>
      </p:sp>
    </p:spTree>
    <p:extLst>
      <p:ext uri="{BB962C8B-B14F-4D97-AF65-F5344CB8AC3E}">
        <p14:creationId xmlns:p14="http://schemas.microsoft.com/office/powerpoint/2010/main" val="108085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11DD03-05C0-4424-921D-4D39C01FCFEA}"/>
              </a:ext>
            </a:extLst>
          </p:cNvPr>
          <p:cNvSpPr txBox="1"/>
          <p:nvPr/>
        </p:nvSpPr>
        <p:spPr>
          <a:xfrm>
            <a:off x="1934817" y="185531"/>
            <a:ext cx="7752522" cy="984885"/>
          </a:xfrm>
          <a:prstGeom prst="rect">
            <a:avLst/>
          </a:prstGeom>
          <a:noFill/>
        </p:spPr>
        <p:txBody>
          <a:bodyPr wrap="square" rtlCol="0">
            <a:spAutoFit/>
          </a:bodyPr>
          <a:lstStyle/>
          <a:p>
            <a:pPr algn="ctr"/>
            <a:r>
              <a:rPr lang="en-US" sz="4000" b="1" dirty="0">
                <a:latin typeface="Times New Roman" panose="02020603050405020304" pitchFamily="18" charset="0"/>
                <a:cs typeface="Times New Roman" panose="02020603050405020304" pitchFamily="18" charset="0"/>
              </a:rPr>
              <a:t>Findings</a:t>
            </a:r>
          </a:p>
          <a:p>
            <a:pPr algn="ctr"/>
            <a:endParaRPr lang="en-US" dirty="0"/>
          </a:p>
        </p:txBody>
      </p:sp>
      <p:sp>
        <p:nvSpPr>
          <p:cNvPr id="3" name="TextBox 2">
            <a:extLst>
              <a:ext uri="{FF2B5EF4-FFF2-40B4-BE49-F238E27FC236}">
                <a16:creationId xmlns:a16="http://schemas.microsoft.com/office/drawing/2014/main" id="{D8203AE9-1A38-4447-BC59-7ECD8ED16CDE}"/>
              </a:ext>
            </a:extLst>
          </p:cNvPr>
          <p:cNvSpPr txBox="1"/>
          <p:nvPr/>
        </p:nvSpPr>
        <p:spPr>
          <a:xfrm>
            <a:off x="159026" y="940905"/>
            <a:ext cx="11900452" cy="6186309"/>
          </a:xfrm>
          <a:prstGeom prst="rect">
            <a:avLst/>
          </a:prstGeom>
          <a:noFill/>
        </p:spPr>
        <p:txBody>
          <a:bodyPr wrap="square" rtlCol="0">
            <a:spAutoFit/>
          </a:bodyPr>
          <a:lstStyle/>
          <a:p>
            <a:pPr marL="342900" indent="-342900" algn="just">
              <a:lnSpc>
                <a:spcPct val="150000"/>
              </a:lnSpc>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 Platform Usage</a:t>
            </a:r>
            <a:r>
              <a:rPr lang="en-US" b="1"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TikTok</a:t>
            </a:r>
            <a:r>
              <a:rPr lang="en-US" dirty="0">
                <a:latin typeface="Times New Roman" panose="02020603050405020304" pitchFamily="18" charset="0"/>
                <a:cs typeface="Times New Roman" panose="02020603050405020304" pitchFamily="18" charset="0"/>
              </a:rPr>
              <a:t>, Instagram, and YouTube are the most used platforms, showing higher engagement compared to Facebook.</a:t>
            </a:r>
          </a:p>
          <a:p>
            <a:pPr marL="342900" indent="-342900" algn="just">
              <a:lnSpc>
                <a:spcPct val="150000"/>
              </a:lnSpc>
              <a:buFont typeface="Courier New" panose="02070309020205020404" pitchFamily="49" charset="0"/>
              <a:buChar char="o"/>
            </a:pPr>
            <a:r>
              <a:rPr lang="en-US" sz="2000" b="1" dirty="0">
                <a:latin typeface="Times New Roman" panose="02020603050405020304" pitchFamily="18" charset="0"/>
                <a:cs typeface="Times New Roman" panose="02020603050405020304" pitchFamily="18" charset="0"/>
              </a:rPr>
              <a:t> Addiction Levels</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Users on </a:t>
            </a:r>
            <a:r>
              <a:rPr lang="en-US" dirty="0" err="1">
                <a:latin typeface="Times New Roman" panose="02020603050405020304" pitchFamily="18" charset="0"/>
                <a:cs typeface="Times New Roman" panose="02020603050405020304" pitchFamily="18" charset="0"/>
              </a:rPr>
              <a:t>TikTok</a:t>
            </a:r>
            <a:r>
              <a:rPr lang="en-US" dirty="0">
                <a:latin typeface="Times New Roman" panose="02020603050405020304" pitchFamily="18" charset="0"/>
                <a:cs typeface="Times New Roman" panose="02020603050405020304" pitchFamily="18" charset="0"/>
              </a:rPr>
              <a:t> and Instagram exhibit higher addiction levels, especially among younger age groups.</a:t>
            </a:r>
          </a:p>
          <a:p>
            <a:pPr marL="285750" indent="-285750" algn="just">
              <a:lnSpc>
                <a:spcPct val="150000"/>
              </a:lnSpc>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Productivity Loss</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 strong relationship exists between addiction and productivity loss — the more time spent on these platforms, the higher the reported decline in productivity.</a:t>
            </a:r>
          </a:p>
          <a:p>
            <a:pPr marL="285750" indent="-285750" algn="just">
              <a:lnSpc>
                <a:spcPct val="150000"/>
              </a:lnSpc>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Gender &amp; Profession: </a:t>
            </a:r>
            <a:r>
              <a:rPr lang="en-US" dirty="0">
                <a:latin typeface="Times New Roman" panose="02020603050405020304" pitchFamily="18" charset="0"/>
                <a:cs typeface="Times New Roman" panose="02020603050405020304" pitchFamily="18" charset="0"/>
              </a:rPr>
              <a:t>Addiction levels and self-control are fairly similar across genders and professions, with no extreme differences observed.</a:t>
            </a:r>
          </a:p>
          <a:p>
            <a:pPr marL="285750" indent="-285750" algn="just">
              <a:lnSpc>
                <a:spcPct val="150000"/>
              </a:lnSpc>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Device &amp; Connection: </a:t>
            </a:r>
            <a:r>
              <a:rPr lang="en-US" dirty="0">
                <a:latin typeface="Times New Roman" panose="02020603050405020304" pitchFamily="18" charset="0"/>
                <a:cs typeface="Times New Roman" panose="02020603050405020304" pitchFamily="18" charset="0"/>
              </a:rPr>
              <a:t>The majority of users access social media via mobile devices and mobile data, making it easily accessible and harder to control.</a:t>
            </a:r>
          </a:p>
          <a:p>
            <a:pPr marL="285750" indent="-285750" algn="just">
              <a:lnSpc>
                <a:spcPct val="150000"/>
              </a:lnSpc>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Self-Control: </a:t>
            </a:r>
            <a:r>
              <a:rPr lang="en-US" dirty="0">
                <a:latin typeface="Times New Roman" panose="02020603050405020304" pitchFamily="18" charset="0"/>
                <a:cs typeface="Times New Roman" panose="02020603050405020304" pitchFamily="18" charset="0"/>
              </a:rPr>
              <a:t>While some users show moderate self-control, addictive platforms like </a:t>
            </a:r>
            <a:r>
              <a:rPr lang="en-US" dirty="0" err="1">
                <a:latin typeface="Times New Roman" panose="02020603050405020304" pitchFamily="18" charset="0"/>
                <a:cs typeface="Times New Roman" panose="02020603050405020304" pitchFamily="18" charset="0"/>
              </a:rPr>
              <a:t>TikTok</a:t>
            </a:r>
            <a:r>
              <a:rPr lang="en-US" dirty="0">
                <a:latin typeface="Times New Roman" panose="02020603050405020304" pitchFamily="18" charset="0"/>
                <a:cs typeface="Times New Roman" panose="02020603050405020304" pitchFamily="18" charset="0"/>
              </a:rPr>
              <a:t> tend to override self-control more easily, leading to higher screen time.</a:t>
            </a:r>
          </a:p>
          <a:p>
            <a:pPr marL="285750" indent="-285750" algn="just">
              <a:lnSpc>
                <a:spcPct val="150000"/>
              </a:lnSpc>
              <a:buFont typeface="Courier New" panose="02070309020205020404" pitchFamily="49" charset="0"/>
              <a:buChar char="o"/>
            </a:pPr>
            <a:endParaRPr lang="en-US" dirty="0">
              <a:latin typeface="Times New Roman" panose="02020603050405020304" pitchFamily="18" charset="0"/>
              <a:cs typeface="Times New Roman" panose="02020603050405020304" pitchFamily="18" charset="0"/>
            </a:endParaRPr>
          </a:p>
          <a:p>
            <a:pPr marL="285750" indent="-285750">
              <a:buFont typeface="Courier New" panose="02070309020205020404" pitchFamily="49" charset="0"/>
              <a:buChar char="o"/>
            </a:pPr>
            <a:endParaRPr lang="en-US" dirty="0">
              <a:latin typeface="Times New Roman" panose="02020603050405020304" pitchFamily="18" charset="0"/>
              <a:cs typeface="Times New Roman" panose="02020603050405020304" pitchFamily="18" charset="0"/>
            </a:endParaRPr>
          </a:p>
          <a:p>
            <a:pPr marL="285750" indent="-285750">
              <a:buFont typeface="Courier New" panose="02070309020205020404" pitchFamily="49" charset="0"/>
              <a:buChar char="o"/>
            </a:pPr>
            <a:endParaRPr lang="en-US" dirty="0">
              <a:latin typeface="Times New Roman" panose="02020603050405020304" pitchFamily="18" charset="0"/>
              <a:cs typeface="Times New Roman" panose="02020603050405020304" pitchFamily="18" charset="0"/>
            </a:endParaRPr>
          </a:p>
          <a:p>
            <a:pPr marL="285750" indent="-285750">
              <a:buFont typeface="Courier New" panose="02070309020205020404" pitchFamily="49" charset="0"/>
              <a:buChar char="o"/>
            </a:pPr>
            <a:endParaRPr lang="en-US" dirty="0"/>
          </a:p>
        </p:txBody>
      </p:sp>
    </p:spTree>
    <p:extLst>
      <p:ext uri="{BB962C8B-B14F-4D97-AF65-F5344CB8AC3E}">
        <p14:creationId xmlns:p14="http://schemas.microsoft.com/office/powerpoint/2010/main" val="2401049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86751E-F040-4BE5-A75B-0B67D0088EAD}"/>
              </a:ext>
            </a:extLst>
          </p:cNvPr>
          <p:cNvSpPr txBox="1"/>
          <p:nvPr/>
        </p:nvSpPr>
        <p:spPr>
          <a:xfrm>
            <a:off x="-212035" y="119270"/>
            <a:ext cx="12404035" cy="984885"/>
          </a:xfrm>
          <a:prstGeom prst="rect">
            <a:avLst/>
          </a:prstGeom>
          <a:noFill/>
        </p:spPr>
        <p:txBody>
          <a:bodyPr wrap="square" rtlCol="0">
            <a:spAutoFit/>
          </a:bodyPr>
          <a:lstStyle/>
          <a:p>
            <a:pPr algn="ctr"/>
            <a:r>
              <a:rPr lang="en-US" sz="4000" b="1" dirty="0">
                <a:latin typeface="Times New Roman" panose="02020603050405020304" pitchFamily="18" charset="0"/>
                <a:cs typeface="Times New Roman" panose="02020603050405020304" pitchFamily="18" charset="0"/>
              </a:rPr>
              <a:t>Recommendation</a:t>
            </a:r>
          </a:p>
          <a:p>
            <a:pPr algn="ctr"/>
            <a:endParaRPr lang="en-US" dirty="0"/>
          </a:p>
        </p:txBody>
      </p:sp>
      <p:sp>
        <p:nvSpPr>
          <p:cNvPr id="3" name="TextBox 2">
            <a:extLst>
              <a:ext uri="{FF2B5EF4-FFF2-40B4-BE49-F238E27FC236}">
                <a16:creationId xmlns:a16="http://schemas.microsoft.com/office/drawing/2014/main" id="{5BF62085-5F17-4A17-A573-99C34F6EE4A3}"/>
              </a:ext>
            </a:extLst>
          </p:cNvPr>
          <p:cNvSpPr txBox="1"/>
          <p:nvPr/>
        </p:nvSpPr>
        <p:spPr>
          <a:xfrm>
            <a:off x="503583" y="1104155"/>
            <a:ext cx="11370365" cy="5678478"/>
          </a:xfrm>
          <a:prstGeom prst="rect">
            <a:avLst/>
          </a:prstGeom>
          <a:noFill/>
        </p:spPr>
        <p:txBody>
          <a:bodyPr wrap="square" rtlCol="0">
            <a:spAutoFit/>
          </a:bodyPr>
          <a:lstStyle/>
          <a:p>
            <a:pPr marL="342900" indent="-342900">
              <a:lnSpc>
                <a:spcPct val="150000"/>
              </a:lnSpc>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Digital Wellbeing Tools : </a:t>
            </a:r>
            <a:r>
              <a:rPr lang="en-US" dirty="0">
                <a:latin typeface="Times New Roman" panose="02020603050405020304" pitchFamily="18" charset="0"/>
                <a:cs typeface="Times New Roman" panose="02020603050405020304" pitchFamily="18" charset="0"/>
              </a:rPr>
              <a:t>Encourage users to make use of built-in features like screen time limits, usage reminders, and app timers.</a:t>
            </a:r>
          </a:p>
          <a:p>
            <a:pPr marL="285750" indent="-285750">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cs typeface="Times New Roman" panose="02020603050405020304" pitchFamily="18" charset="0"/>
              </a:rPr>
              <a:t>Awareness Campaigns : </a:t>
            </a:r>
            <a:r>
              <a:rPr lang="en-US" dirty="0">
                <a:effectLst/>
                <a:latin typeface="Times New Roman" panose="02020603050405020304" pitchFamily="18" charset="0"/>
                <a:cs typeface="Times New Roman" panose="02020603050405020304" pitchFamily="18" charset="0"/>
              </a:rPr>
              <a:t>Educational programs in schools, colleges, and workplaces can spread awareness about the negative impact of excessive scrolling and video consumption.</a:t>
            </a:r>
          </a:p>
          <a:p>
            <a:pPr marL="342900" indent="-342900">
              <a:lnSpc>
                <a:spcPct val="150000"/>
              </a:lnSpc>
              <a:buFont typeface="Wingdings" panose="05000000000000000000" pitchFamily="2" charset="2"/>
              <a:buChar char="q"/>
            </a:pPr>
            <a:r>
              <a:rPr lang="en-US" sz="2000" b="1" dirty="0">
                <a:effectLst/>
                <a:latin typeface="Times New Roman" panose="02020603050405020304" pitchFamily="18" charset="0"/>
                <a:cs typeface="Times New Roman" panose="02020603050405020304" pitchFamily="18" charset="0"/>
              </a:rPr>
              <a:t>Balanced Usage : </a:t>
            </a:r>
            <a:r>
              <a:rPr lang="en-US" dirty="0">
                <a:effectLst/>
                <a:latin typeface="Times New Roman" panose="02020603050405020304" pitchFamily="18" charset="0"/>
                <a:cs typeface="Times New Roman" panose="02020603050405020304" pitchFamily="18" charset="0"/>
              </a:rPr>
              <a:t>Users can be guided to schedule fixed time slots for entertainment and avoid continuous scrolling, especially on </a:t>
            </a:r>
            <a:r>
              <a:rPr lang="en-US" dirty="0" err="1">
                <a:effectLst/>
                <a:latin typeface="Times New Roman" panose="02020603050405020304" pitchFamily="18" charset="0"/>
                <a:cs typeface="Times New Roman" panose="02020603050405020304" pitchFamily="18" charset="0"/>
              </a:rPr>
              <a:t>TikTok</a:t>
            </a:r>
            <a:r>
              <a:rPr lang="en-US" dirty="0">
                <a:effectLst/>
                <a:latin typeface="Times New Roman" panose="02020603050405020304" pitchFamily="18" charset="0"/>
                <a:cs typeface="Times New Roman" panose="02020603050405020304" pitchFamily="18" charset="0"/>
              </a:rPr>
              <a:t> and Instagram.</a:t>
            </a:r>
          </a:p>
          <a:p>
            <a:pPr marL="342900" indent="-342900">
              <a:lnSpc>
                <a:spcPct val="150000"/>
              </a:lnSpc>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Productivity Substitution : </a:t>
            </a:r>
            <a:r>
              <a:rPr lang="en-US" dirty="0">
                <a:latin typeface="Times New Roman" panose="02020603050405020304" pitchFamily="18" charset="0"/>
                <a:cs typeface="Times New Roman" panose="02020603050405020304" pitchFamily="18" charset="0"/>
              </a:rPr>
              <a:t>Promote alternative apps or activities that support learning, fitness, or skill development to replace excessive entertainment consumption.</a:t>
            </a:r>
          </a:p>
          <a:p>
            <a:pPr marL="342900" indent="-342900">
              <a:lnSpc>
                <a:spcPct val="150000"/>
              </a:lnSpc>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Policy Recommendations : </a:t>
            </a:r>
            <a:r>
              <a:rPr lang="en-US" dirty="0">
                <a:latin typeface="Times New Roman" panose="02020603050405020304" pitchFamily="18" charset="0"/>
                <a:cs typeface="Times New Roman" panose="02020603050405020304" pitchFamily="18" charset="0"/>
              </a:rPr>
              <a:t>Institutions and workplaces may consider setting digital boundaries to reduce productivity loss.</a:t>
            </a:r>
          </a:p>
          <a:p>
            <a:pPr>
              <a:lnSpc>
                <a:spcPct val="150000"/>
              </a:lnSpc>
            </a:pPr>
            <a:endParaRPr lang="en-US" dirty="0">
              <a:latin typeface="Times New Roman" panose="02020603050405020304" pitchFamily="18" charset="0"/>
              <a:cs typeface="Times New Roman" panose="02020603050405020304" pitchFamily="18" charset="0"/>
            </a:endParaRPr>
          </a:p>
          <a:p>
            <a:endParaRPr lang="en-US" dirty="0"/>
          </a:p>
          <a:p>
            <a:endParaRPr lang="en-US" dirty="0"/>
          </a:p>
          <a:p>
            <a:endParaRPr lang="en-US" dirty="0"/>
          </a:p>
        </p:txBody>
      </p:sp>
    </p:spTree>
    <p:extLst>
      <p:ext uri="{BB962C8B-B14F-4D97-AF65-F5344CB8AC3E}">
        <p14:creationId xmlns:p14="http://schemas.microsoft.com/office/powerpoint/2010/main" val="2397235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84419D-9262-4ADC-AE44-DBE7CBAAA724}"/>
              </a:ext>
            </a:extLst>
          </p:cNvPr>
          <p:cNvSpPr txBox="1"/>
          <p:nvPr/>
        </p:nvSpPr>
        <p:spPr>
          <a:xfrm>
            <a:off x="258418" y="2663688"/>
            <a:ext cx="11675164" cy="2345322"/>
          </a:xfrm>
          <a:prstGeom prst="rect">
            <a:avLst/>
          </a:prstGeom>
          <a:noFill/>
        </p:spPr>
        <p:txBody>
          <a:bodyPr wrap="square"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This study highlights how social media, while valuable for connectivity and entertainment, often leads to excessive use, addiction, and productivity loss. Findings reveal that platforms like </a:t>
            </a:r>
            <a:r>
              <a:rPr lang="en-US" sz="2000" dirty="0" err="1">
                <a:latin typeface="Times New Roman" panose="02020603050405020304" pitchFamily="18" charset="0"/>
                <a:cs typeface="Times New Roman" panose="02020603050405020304" pitchFamily="18" charset="0"/>
              </a:rPr>
              <a:t>TikTok</a:t>
            </a:r>
            <a:r>
              <a:rPr lang="en-US" sz="2000" dirty="0">
                <a:latin typeface="Times New Roman" panose="02020603050405020304" pitchFamily="18" charset="0"/>
                <a:cs typeface="Times New Roman" panose="02020603050405020304" pitchFamily="18" charset="0"/>
              </a:rPr>
              <a:t> and Instagram show higher risks, especially among younger users, with self-control and device accessibility playing key roles. By adopting digital wellbeing tools, raising awareness, and promoting balanced usage, individuals and institutions can reduce negative impacts and encourage healthier, more purposeful engagement with social media</a:t>
            </a:r>
            <a:r>
              <a:rPr lang="en-US" dirty="0"/>
              <a:t>.</a:t>
            </a:r>
          </a:p>
        </p:txBody>
      </p:sp>
      <p:sp>
        <p:nvSpPr>
          <p:cNvPr id="3" name="TextBox 2">
            <a:extLst>
              <a:ext uri="{FF2B5EF4-FFF2-40B4-BE49-F238E27FC236}">
                <a16:creationId xmlns:a16="http://schemas.microsoft.com/office/drawing/2014/main" id="{7EFDAFA0-B364-41AE-87D3-8F60164E8237}"/>
              </a:ext>
            </a:extLst>
          </p:cNvPr>
          <p:cNvSpPr txBox="1"/>
          <p:nvPr/>
        </p:nvSpPr>
        <p:spPr>
          <a:xfrm>
            <a:off x="2160104" y="927652"/>
            <a:ext cx="6904383" cy="923330"/>
          </a:xfrm>
          <a:prstGeom prst="rect">
            <a:avLst/>
          </a:prstGeom>
          <a:noFill/>
        </p:spPr>
        <p:txBody>
          <a:bodyPr wrap="square" rtlCol="0">
            <a:spAutoFit/>
          </a:bodyPr>
          <a:lstStyle/>
          <a:p>
            <a:pPr algn="ctr"/>
            <a:r>
              <a:rPr lang="en-US" sz="5400" b="1"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4205937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2A5A56-59A8-482D-A49B-4A9011F82BBA}"/>
              </a:ext>
            </a:extLst>
          </p:cNvPr>
          <p:cNvSpPr txBox="1"/>
          <p:nvPr/>
        </p:nvSpPr>
        <p:spPr>
          <a:xfrm>
            <a:off x="715617" y="2610678"/>
            <a:ext cx="10522225" cy="923330"/>
          </a:xfrm>
          <a:prstGeom prst="rect">
            <a:avLst/>
          </a:prstGeom>
          <a:noFill/>
        </p:spPr>
        <p:txBody>
          <a:bodyPr wrap="square" rtlCol="0">
            <a:spAutoFit/>
          </a:bodyPr>
          <a:lstStyle/>
          <a:p>
            <a:pPr algn="ctr"/>
            <a:r>
              <a:rPr lang="en-US" sz="54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450461876"/>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171</TotalTime>
  <Words>901</Words>
  <Application>Microsoft Office PowerPoint</Application>
  <PresentationFormat>Widescreen</PresentationFormat>
  <Paragraphs>64</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Century Gothic</vt:lpstr>
      <vt:lpstr>Courier New</vt:lpstr>
      <vt:lpstr>Times New Roman</vt:lpstr>
      <vt:lpstr>Wingdings</vt:lpstr>
      <vt:lpstr>Vapor Trail</vt:lpstr>
      <vt:lpstr>Analysis of Time-Wasters on Social Media</vt:lpstr>
      <vt:lpstr>PowerPoint Presentation</vt:lpstr>
      <vt:lpstr>PowerPoint Presentation</vt:lpstr>
      <vt:lpstr>PowerPoint Presentation</vt:lpstr>
      <vt:lpstr>Gender Representation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Time-Wasters on Social Media</dc:title>
  <dc:creator>user</dc:creator>
  <cp:lastModifiedBy>user</cp:lastModifiedBy>
  <cp:revision>7</cp:revision>
  <dcterms:created xsi:type="dcterms:W3CDTF">2025-09-25T13:17:02Z</dcterms:created>
  <dcterms:modified xsi:type="dcterms:W3CDTF">2025-09-26T10:23:07Z</dcterms:modified>
</cp:coreProperties>
</file>